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  <p:sldId id="265" r:id="rId10"/>
    <p:sldId id="266" r:id="rId11"/>
    <p:sldId id="267" r:id="rId12"/>
    <p:sldId id="261" r:id="rId1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16" y="-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2286000" y="3124200"/>
            <a:ext cx="6172200" cy="1894362"/>
          </a:xfrm>
        </p:spPr>
        <p:txBody>
          <a:bodyPr/>
          <a:lstStyle>
            <a:lvl1pPr>
              <a:defRPr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286000" y="5003322"/>
            <a:ext cx="6172200" cy="1371600"/>
          </a:xfrm>
        </p:spPr>
        <p:txBody>
          <a:bodyPr/>
          <a:lstStyle>
            <a:lvl1pPr marL="0" indent="0" algn="l">
              <a:buNone/>
              <a:defRPr sz="1800" b="1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4621" y="1174097"/>
            <a:ext cx="2286000" cy="381000"/>
          </a:xfrm>
        </p:spPr>
        <p:txBody>
          <a:bodyPr/>
          <a:lstStyle/>
          <a:p>
            <a:fld id="{14AAE0A5-CEB0-4F50-990D-67433CB4B548}" type="datetimeFigureOut">
              <a:rPr lang="en-US" smtClean="0"/>
              <a:t>30-Apr-25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269" y="4181669"/>
            <a:ext cx="3657600" cy="384048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4" name="Rectangle 13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9" name="Rectangle 18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Straight Connector 17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0" name="Straight Connector 19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2" name="Straight Connector 21"/>
          <p:cNvSpPr>
            <a:spLocks noChangeShapeType="1"/>
          </p:cNvSpPr>
          <p:nvPr/>
        </p:nvSpPr>
        <p:spPr bwMode="auto">
          <a:xfrm>
            <a:off x="9113856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7" name="Rectangle 26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Oval 20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Oval 22"/>
          <p:cNvSpPr/>
          <p:nvPr/>
        </p:nvSpPr>
        <p:spPr bwMode="auto">
          <a:xfrm>
            <a:off x="1309632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4" name="Oval 23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Oval 25"/>
          <p:cNvSpPr/>
          <p:nvPr/>
        </p:nvSpPr>
        <p:spPr bwMode="auto">
          <a:xfrm>
            <a:off x="1664208" y="5788152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5" name="Oval 24"/>
          <p:cNvSpPr/>
          <p:nvPr/>
        </p:nvSpPr>
        <p:spPr>
          <a:xfrm>
            <a:off x="1905000" y="4495800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 bwMode="auto">
          <a:xfrm>
            <a:off x="1325544" y="4928702"/>
            <a:ext cx="609600" cy="517524"/>
          </a:xfrm>
        </p:spPr>
        <p:txBody>
          <a:bodyPr/>
          <a:lstStyle/>
          <a:p>
            <a:fld id="{72B28B29-7A2E-40EB-853D-8D3BD3614489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752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14AAE0A5-CEB0-4F50-990D-67433CB4B548}" type="datetimeFigureOut">
              <a:rPr lang="en-US" smtClean="0"/>
              <a:t>30-Apr-25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72B28B29-7A2E-40EB-853D-8D3BD3614489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0" y="2895600"/>
            <a:ext cx="6172200" cy="2053590"/>
          </a:xfrm>
        </p:spPr>
        <p:txBody>
          <a:bodyPr/>
          <a:lstStyle>
            <a:lvl1pPr algn="l">
              <a:buNone/>
              <a:defRPr sz="3000" b="1" cap="small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86000" y="5010150"/>
            <a:ext cx="6172200" cy="1371600"/>
          </a:xfrm>
        </p:spPr>
        <p:txBody>
          <a:bodyPr anchor="t"/>
          <a:lstStyle>
            <a:lvl1pPr marL="0" indent="0">
              <a:buNone/>
              <a:defRPr sz="1800" b="1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3256" y="1170432"/>
            <a:ext cx="2286000" cy="381000"/>
          </a:xfrm>
        </p:spPr>
        <p:txBody>
          <a:bodyPr/>
          <a:lstStyle/>
          <a:p>
            <a:fld id="{14AAE0A5-CEB0-4F50-990D-67433CB4B548}" type="datetimeFigureOut">
              <a:rPr lang="en-US" smtClean="0"/>
              <a:t>30-Apr-25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456" y="4178808"/>
            <a:ext cx="3657600" cy="384048"/>
          </a:xfrm>
        </p:spPr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Straight Connector 13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7" name="Straight Connector 16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Rectangle 17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9" name="Oval 18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0" name="Oval 19"/>
          <p:cNvSpPr/>
          <p:nvPr/>
        </p:nvSpPr>
        <p:spPr bwMode="auto">
          <a:xfrm>
            <a:off x="1324704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Oval 20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Oval 21"/>
          <p:cNvSpPr/>
          <p:nvPr/>
        </p:nvSpPr>
        <p:spPr bwMode="auto">
          <a:xfrm>
            <a:off x="1664208" y="5791200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Oval 22"/>
          <p:cNvSpPr/>
          <p:nvPr/>
        </p:nvSpPr>
        <p:spPr bwMode="auto">
          <a:xfrm>
            <a:off x="1879040" y="4479888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Straight Connector 25"/>
          <p:cNvSpPr>
            <a:spLocks noChangeShapeType="1"/>
          </p:cNvSpPr>
          <p:nvPr/>
        </p:nvSpPr>
        <p:spPr bwMode="auto">
          <a:xfrm>
            <a:off x="9097944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1340616" y="4928702"/>
            <a:ext cx="609600" cy="517524"/>
          </a:xfrm>
        </p:spPr>
        <p:txBody>
          <a:bodyPr/>
          <a:lstStyle/>
          <a:p>
            <a:fld id="{72B28B29-7A2E-40EB-853D-8D3BD3614489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AAE0A5-CEB0-4F50-990D-67433CB4B548}" type="datetimeFigureOut">
              <a:rPr lang="en-US" smtClean="0"/>
              <a:t>30-Apr-25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28B29-7A2E-40EB-853D-8D3BD3614489}" type="slidenum">
              <a:rPr lang="en-US" smtClean="0"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270248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7543800" cy="1143000"/>
          </a:xfrm>
        </p:spPr>
        <p:txBody>
          <a:bodyPr anchor="b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AAE0A5-CEB0-4F50-990D-67433CB4B548}" type="datetimeFigureOut">
              <a:rPr lang="en-US" smtClean="0"/>
              <a:t>30-Apr-25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28B29-7A2E-40EB-853D-8D3BD3614489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371975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"/>
          </p:nvPr>
        </p:nvSpPr>
        <p:spPr>
          <a:xfrm>
            <a:off x="4572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3"/>
          </p:nvPr>
        </p:nvSpPr>
        <p:spPr>
          <a:xfrm>
            <a:off x="43434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14AAE0A5-CEB0-4F50-990D-67433CB4B548}" type="datetimeFigureOut">
              <a:rPr lang="en-US" smtClean="0"/>
              <a:t>30-Apr-25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72B28B29-7A2E-40EB-853D-8D3BD3614489}" type="slidenum">
              <a:rPr lang="en-US" smtClean="0"/>
              <a:t>‹#›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AAE0A5-CEB0-4F50-990D-67433CB4B548}" type="datetimeFigureOut">
              <a:rPr lang="en-US" smtClean="0"/>
              <a:t>30-Apr-25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28B29-7A2E-40EB-853D-8D3BD361448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3371850" y="3200400"/>
            <a:ext cx="6309360" cy="457200"/>
          </a:xfrm>
        </p:spPr>
        <p:txBody>
          <a:bodyPr anchor="b"/>
          <a:lstStyle>
            <a:lvl1pPr algn="l">
              <a:buNone/>
              <a:defRPr sz="2000" b="1" cap="small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12280" y="274320"/>
            <a:ext cx="1527048" cy="4983480"/>
          </a:xfrm>
        </p:spPr>
        <p:txBody>
          <a:bodyPr/>
          <a:lstStyle>
            <a:lvl1pPr marL="0" indent="0">
              <a:spcBef>
                <a:spcPts val="400"/>
              </a:spcBef>
              <a:spcAft>
                <a:spcPts val="1000"/>
              </a:spcAft>
              <a:buNone/>
              <a:defRPr sz="12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Oval 13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8" name="Content Placeholder 17"/>
          <p:cNvSpPr>
            <a:spLocks noGrp="1"/>
          </p:cNvSpPr>
          <p:nvPr>
            <p:ph sz="quarter" idx="1"/>
          </p:nvPr>
        </p:nvSpPr>
        <p:spPr>
          <a:xfrm>
            <a:off x="304800" y="274320"/>
            <a:ext cx="5638800" cy="6327648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1" name="Date Placeholder 20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14AAE0A5-CEB0-4F50-990D-67433CB4B548}" type="datetimeFigureOut">
              <a:rPr lang="en-US" smtClean="0"/>
              <a:t>30-Apr-25</a:t>
            </a:fld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72B28B29-7A2E-40EB-853D-8D3BD3614489}" type="slidenum">
              <a:rPr lang="en-US" smtClean="0"/>
              <a:t>‹#›</a:t>
            </a:fld>
            <a:endParaRPr lang="en-US"/>
          </a:p>
        </p:txBody>
      </p:sp>
      <p:sp>
        <p:nvSpPr>
          <p:cNvPr id="23" name="Footer Placeholder 22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3" name="Oval 12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3350133" y="3200400"/>
            <a:ext cx="6309360" cy="45720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6172200" cy="6858000"/>
          </a:xfrm>
          <a:solidFill>
            <a:schemeClr val="bg2"/>
          </a:solidFill>
          <a:ln w="1270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/>
          <a:lstStyle>
            <a:lvl1pPr marL="0" indent="0">
              <a:buNone/>
              <a:defRPr sz="3200"/>
            </a:lvl1pPr>
          </a:lstStyle>
          <a:p>
            <a:pPr algn="ctr" eaLnBrk="1" latinLnBrk="0" hangingPunct="1">
              <a:buFontTx/>
              <a:buNone/>
            </a:pPr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65798" y="264795"/>
            <a:ext cx="1524000" cy="4956048"/>
          </a:xfrm>
        </p:spPr>
        <p:txBody>
          <a:bodyPr rot="0" spcFirstLastPara="0" vertOverflow="overflow" horzOverflow="overflow" vert="horz" wrap="square" lIns="91440" tIns="45720" rIns="91440" bIns="45720" numCol="1" spcCol="274320" rtlCol="0" fromWordArt="0" anchor="t" anchorCtr="0" forceAA="0" compatLnSpc="1">
            <a:normAutofit/>
          </a:bodyPr>
          <a:lstStyle>
            <a:lvl1pPr marL="0" indent="0">
              <a:spcBef>
                <a:spcPts val="100"/>
              </a:spcBef>
              <a:spcAft>
                <a:spcPts val="400"/>
              </a:spcAft>
              <a:buFontTx/>
              <a:buNone/>
              <a:defRPr sz="12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1" name="Rectangle 10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Straight Connector 11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9" name="Straight Connector 18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0" name="Straight Connector 19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7" name="Date Placeholder 1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14AAE0A5-CEB0-4F50-990D-67433CB4B548}" type="datetimeFigureOut">
              <a:rPr lang="en-US" smtClean="0"/>
              <a:t>30-Apr-25</a:t>
            </a:fld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72B28B29-7A2E-40EB-853D-8D3BD3614489}" type="slidenum">
              <a:rPr lang="en-US" smtClean="0"/>
              <a:t>‹#›</a:t>
            </a:fld>
            <a:endParaRPr lang="en-US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AAE0A5-CEB0-4F50-990D-67433CB4B548}" type="datetimeFigureOut">
              <a:rPr lang="en-US" smtClean="0"/>
              <a:t>30-Apr-25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28B29-7A2E-40EB-853D-8D3BD361448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16764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AAE0A5-CEB0-4F50-990D-67433CB4B548}" type="datetimeFigureOut">
              <a:rPr lang="en-US" smtClean="0"/>
              <a:t>30-Apr-25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28B29-7A2E-40EB-853D-8D3BD361448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467600" cy="487375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 rot="5400000">
            <a:off x="7589520" y="1081851"/>
            <a:ext cx="2011680" cy="384048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fld id="{14AAE0A5-CEB0-4F50-990D-67433CB4B548}" type="datetimeFigureOut">
              <a:rPr lang="en-US" smtClean="0"/>
              <a:t>30-Apr-25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 rot="5400000">
            <a:off x="6990186" y="3737240"/>
            <a:ext cx="3200400" cy="365760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76200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Oval 11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8129016" y="5734050"/>
            <a:ext cx="609600" cy="521208"/>
          </a:xfrm>
          <a:prstGeom prst="rect">
            <a:avLst/>
          </a:prstGeom>
        </p:spPr>
        <p:txBody>
          <a:bodyPr vert="horz" anchor="ctr"/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72B28B29-7A2E-40EB-853D-8D3BD3614489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3000" b="0" kern="1200" cap="sm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0000"/>
        <a:buFont typeface="Wingdings"/>
        <a:buChar char="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182880" algn="l" rtl="0" eaLnBrk="1" latinLnBrk="0" hangingPunct="1">
        <a:spcBef>
          <a:spcPct val="20000"/>
        </a:spcBef>
        <a:buClr>
          <a:schemeClr val="accent2">
            <a:tint val="60000"/>
          </a:schemeClr>
        </a:buClr>
        <a:buSzPct val="68000"/>
        <a:buFont typeface="Wingdings 2"/>
        <a:buChar char="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rtl="0" eaLnBrk="1" latinLnBrk="0" hangingPunct="1">
        <a:spcBef>
          <a:spcPct val="20000"/>
        </a:spcBef>
        <a:buClr>
          <a:schemeClr val="accent1"/>
        </a:buClr>
        <a:buChar char="•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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ct val="20000"/>
        </a:spcBef>
        <a:buClr>
          <a:schemeClr val="accent2"/>
        </a:buClr>
        <a:buChar char="•"/>
        <a:defRPr kumimoji="0" sz="1400" kern="1200" cap="small" baseline="0">
          <a:solidFill>
            <a:schemeClr val="tx2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Char char="•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jpe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62200" y="1981200"/>
            <a:ext cx="6172200" cy="1894362"/>
          </a:xfrm>
        </p:spPr>
        <p:txBody>
          <a:bodyPr>
            <a:normAutofit/>
          </a:bodyPr>
          <a:lstStyle/>
          <a:p>
            <a:pPr algn="ctr"/>
            <a:r>
              <a:rPr lang="en-US" sz="3600" dirty="0" smtClean="0">
                <a:latin typeface="Garamond" panose="02020404030301010803" pitchFamily="18" charset="0"/>
              </a:rPr>
              <a:t>ACCOUNT MANAGEMENT SYSTEM</a:t>
            </a:r>
            <a:endParaRPr lang="en-US" sz="3600" dirty="0">
              <a:latin typeface="Garamond" panose="02020404030301010803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267200" y="5943600"/>
            <a:ext cx="6172200" cy="1371600"/>
          </a:xfrm>
        </p:spPr>
        <p:txBody>
          <a:bodyPr>
            <a:normAutofit/>
          </a:bodyPr>
          <a:lstStyle/>
          <a:p>
            <a:pPr algn="ctr"/>
            <a:r>
              <a:rPr lang="en-US" dirty="0" smtClean="0">
                <a:latin typeface="Garamond" panose="02020404030301010803" pitchFamily="18" charset="0"/>
              </a:rPr>
              <a:t>B. PRIYA HASINI-24KB1A3014</a:t>
            </a:r>
          </a:p>
          <a:p>
            <a:pPr algn="ctr"/>
            <a:r>
              <a:rPr lang="en-US" dirty="0" smtClean="0">
                <a:latin typeface="Garamond" panose="02020404030301010803" pitchFamily="18" charset="0"/>
              </a:rPr>
              <a:t>01/05/2025</a:t>
            </a:r>
            <a:endParaRPr lang="en-US" dirty="0">
              <a:latin typeface="Garamond" panose="020204040303010108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53204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b="1" dirty="0" smtClean="0">
                <a:latin typeface="Garamond" panose="02020404030301010803" pitchFamily="18" charset="0"/>
              </a:rPr>
              <a:t>INTRODUCTION</a:t>
            </a:r>
            <a:endParaRPr lang="en-US" sz="4000" b="1" dirty="0">
              <a:latin typeface="Garamond" panose="02020404030301010803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 smtClean="0">
                <a:latin typeface="Garamond" panose="02020404030301010803" pitchFamily="18" charset="0"/>
              </a:rPr>
              <a:t>PURPOSE: </a:t>
            </a:r>
          </a:p>
          <a:p>
            <a:pPr lvl="1"/>
            <a:r>
              <a:rPr lang="en-US" dirty="0" smtClean="0">
                <a:latin typeface="Garamond" panose="02020404030301010803" pitchFamily="18" charset="0"/>
              </a:rPr>
              <a:t>To Implement a basic yet functional system for creating, managing, and securing user accounts using C programming.</a:t>
            </a:r>
          </a:p>
          <a:p>
            <a:r>
              <a:rPr lang="en-US" dirty="0" smtClean="0">
                <a:latin typeface="Garamond" panose="02020404030301010803" pitchFamily="18" charset="0"/>
              </a:rPr>
              <a:t>SCOPE</a:t>
            </a:r>
            <a:r>
              <a:rPr lang="en-US" b="1" dirty="0" smtClean="0">
                <a:latin typeface="Garamond" panose="02020404030301010803" pitchFamily="18" charset="0"/>
              </a:rPr>
              <a:t>:</a:t>
            </a:r>
          </a:p>
          <a:p>
            <a:pPr lvl="1"/>
            <a:r>
              <a:rPr lang="en-US" b="1" dirty="0">
                <a:latin typeface="Garamond" panose="02020404030301010803" pitchFamily="18" charset="0"/>
              </a:rPr>
              <a:t> </a:t>
            </a:r>
            <a:r>
              <a:rPr lang="en-US" dirty="0">
                <a:latin typeface="Garamond" panose="02020404030301010803" pitchFamily="18" charset="0"/>
              </a:rPr>
              <a:t>The program allows users to create accounts, log in, change passwords, and delete accounts.</a:t>
            </a:r>
          </a:p>
          <a:p>
            <a:pPr lvl="1"/>
            <a:r>
              <a:rPr lang="en-US" dirty="0">
                <a:latin typeface="Garamond" panose="02020404030301010803" pitchFamily="18" charset="0"/>
              </a:rPr>
              <a:t>Admin </a:t>
            </a:r>
            <a:r>
              <a:rPr lang="en-US" dirty="0" err="1">
                <a:latin typeface="Garamond" panose="02020404030301010803" pitchFamily="18" charset="0"/>
              </a:rPr>
              <a:t>Funtionality</a:t>
            </a:r>
            <a:r>
              <a:rPr lang="en-US" dirty="0">
                <a:latin typeface="Garamond" panose="02020404030301010803" pitchFamily="18" charset="0"/>
              </a:rPr>
              <a:t> includes unlocking accounts after multiple failed login attempts</a:t>
            </a:r>
            <a:r>
              <a:rPr lang="en-US" dirty="0" smtClean="0">
                <a:latin typeface="Garamond" panose="02020404030301010803" pitchFamily="18" charset="0"/>
              </a:rPr>
              <a:t>.</a:t>
            </a:r>
            <a:endParaRPr lang="en-US" b="1" dirty="0" smtClean="0">
              <a:latin typeface="Garamond" panose="02020404030301010803" pitchFamily="18" charset="0"/>
            </a:endParaRPr>
          </a:p>
          <a:p>
            <a:r>
              <a:rPr lang="en-US" dirty="0" smtClean="0">
                <a:latin typeface="Garamond" panose="02020404030301010803" pitchFamily="18" charset="0"/>
              </a:rPr>
              <a:t>TECHNOLOGY USED</a:t>
            </a:r>
            <a:r>
              <a:rPr lang="en-US" b="1" dirty="0" smtClean="0">
                <a:latin typeface="Garamond" panose="02020404030301010803" pitchFamily="18" charset="0"/>
              </a:rPr>
              <a:t>:</a:t>
            </a:r>
          </a:p>
          <a:p>
            <a:pPr lvl="1"/>
            <a:r>
              <a:rPr lang="en-US" b="1" dirty="0" smtClean="0">
                <a:latin typeface="Garamond" panose="02020404030301010803" pitchFamily="18" charset="0"/>
              </a:rPr>
              <a:t> </a:t>
            </a:r>
            <a:r>
              <a:rPr lang="en-US" dirty="0" smtClean="0">
                <a:latin typeface="Garamond" panose="02020404030301010803" pitchFamily="18" charset="0"/>
              </a:rPr>
              <a:t>Programming Language: C</a:t>
            </a:r>
          </a:p>
          <a:p>
            <a:pPr lvl="1"/>
            <a:r>
              <a:rPr lang="en-US" dirty="0" smtClean="0">
                <a:latin typeface="Garamond" panose="02020404030301010803" pitchFamily="18" charset="0"/>
              </a:rPr>
              <a:t>Concepts Applied: Arrays, Strings, Structures, Functions, Loops, Conditional statements.</a:t>
            </a:r>
          </a:p>
          <a:p>
            <a:pPr marL="365760" lvl="1" indent="0">
              <a:buNone/>
            </a:pPr>
            <a:endParaRPr lang="en-US" b="1" dirty="0" smtClean="0">
              <a:latin typeface="Garamond" panose="02020404030301010803" pitchFamily="18" charset="0"/>
            </a:endParaRPr>
          </a:p>
          <a:p>
            <a:pPr lvl="1"/>
            <a:endParaRPr lang="en-US" dirty="0" smtClean="0">
              <a:latin typeface="Garamond" panose="020204040303010108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40830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85800" y="1066800"/>
            <a:ext cx="7467600" cy="4873752"/>
          </a:xfrm>
        </p:spPr>
        <p:txBody>
          <a:bodyPr>
            <a:normAutofit fontScale="92500"/>
          </a:bodyPr>
          <a:lstStyle/>
          <a:p>
            <a:r>
              <a:rPr lang="en-US" dirty="0" smtClean="0"/>
              <a:t>LIMITATIONS AVOIDED:</a:t>
            </a:r>
          </a:p>
          <a:p>
            <a:pPr lvl="1"/>
            <a:r>
              <a:rPr lang="en-US" dirty="0"/>
              <a:t>The program does not use pointers, file handling, or </a:t>
            </a:r>
            <a:r>
              <a:rPr lang="en-US" dirty="0" err="1"/>
              <a:t>Conio.h</a:t>
            </a:r>
            <a:r>
              <a:rPr lang="en-US" dirty="0"/>
              <a:t>, making it suitable for beginner-level C Learners</a:t>
            </a:r>
            <a:r>
              <a:rPr lang="en-US" dirty="0" smtClean="0"/>
              <a:t>.</a:t>
            </a:r>
          </a:p>
          <a:p>
            <a:r>
              <a:rPr lang="en-US" dirty="0" smtClean="0"/>
              <a:t>SECURITY FEATURES:</a:t>
            </a:r>
          </a:p>
          <a:p>
            <a:pPr lvl="1"/>
            <a:r>
              <a:rPr lang="en-US" dirty="0" smtClean="0"/>
              <a:t>Password protection for each account.</a:t>
            </a:r>
          </a:p>
          <a:p>
            <a:pPr lvl="1"/>
            <a:r>
              <a:rPr lang="en-US" dirty="0" smtClean="0"/>
              <a:t>Account lock after 3 failed login attempts.</a:t>
            </a:r>
          </a:p>
          <a:p>
            <a:pPr lvl="1"/>
            <a:r>
              <a:rPr lang="en-US" dirty="0" smtClean="0"/>
              <a:t>Manual account unlock by an admin.</a:t>
            </a:r>
          </a:p>
          <a:p>
            <a:r>
              <a:rPr lang="en-US" dirty="0" smtClean="0"/>
              <a:t>USER INTERACTION:</a:t>
            </a:r>
          </a:p>
          <a:p>
            <a:pPr lvl="1"/>
            <a:r>
              <a:rPr lang="en-US" dirty="0" smtClean="0"/>
              <a:t>Menu-driven interface that operates in a loop until the user chooses to exit.</a:t>
            </a:r>
          </a:p>
          <a:p>
            <a:r>
              <a:rPr lang="en-US" dirty="0" smtClean="0"/>
              <a:t>EDUCATIONAL VALUE:</a:t>
            </a:r>
          </a:p>
          <a:p>
            <a:pPr lvl="1"/>
            <a:r>
              <a:rPr lang="en-US" dirty="0" smtClean="0"/>
              <a:t>Helps understand real-world applications of Structures, Conditionals, loops, and string operations in C.</a:t>
            </a:r>
          </a:p>
        </p:txBody>
      </p:sp>
    </p:spTree>
    <p:extLst>
      <p:ext uri="{BB962C8B-B14F-4D97-AF65-F5344CB8AC3E}">
        <p14:creationId xmlns:p14="http://schemas.microsoft.com/office/powerpoint/2010/main" val="33772189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304800"/>
            <a:ext cx="7467600" cy="1143000"/>
          </a:xfrm>
        </p:spPr>
        <p:txBody>
          <a:bodyPr/>
          <a:lstStyle/>
          <a:p>
            <a:r>
              <a:rPr lang="en-US" sz="4000" b="1" dirty="0" smtClean="0">
                <a:latin typeface="Garamond" panose="02020404030301010803" pitchFamily="18" charset="0"/>
              </a:rPr>
              <a:t>OBJECTIVES</a:t>
            </a:r>
            <a:endParaRPr lang="en-US" sz="4000" b="1" dirty="0">
              <a:latin typeface="Garamond" panose="02020404030301010803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762000" y="1828800"/>
            <a:ext cx="7467600" cy="3883152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To implement a Secure and Simple user Authentication System.</a:t>
            </a:r>
          </a:p>
          <a:p>
            <a:r>
              <a:rPr lang="en-US" dirty="0" smtClean="0"/>
              <a:t>To Apply C programming concepts to a real-world application.</a:t>
            </a:r>
          </a:p>
          <a:p>
            <a:r>
              <a:rPr lang="en-US" dirty="0" smtClean="0"/>
              <a:t>To simulate features like login attempt tracking and account locking.</a:t>
            </a:r>
          </a:p>
          <a:p>
            <a:r>
              <a:rPr lang="en-US" dirty="0" smtClean="0"/>
              <a:t>To simulate real-world account handling such as login Authentication, account locking after failed attempts, and password management in a simple C environment.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72846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sz="4400" b="1" dirty="0" smtClean="0">
                <a:latin typeface="Garamond" panose="02020404030301010803" pitchFamily="18" charset="0"/>
              </a:rPr>
              <a:t>Features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762000" y="1143000"/>
            <a:ext cx="7467600" cy="5486400"/>
          </a:xfrm>
        </p:spPr>
        <p:txBody>
          <a:bodyPr>
            <a:normAutofit fontScale="92500" lnSpcReduction="20000"/>
          </a:bodyPr>
          <a:lstStyle/>
          <a:p>
            <a:r>
              <a:rPr lang="en-US" dirty="0" smtClean="0"/>
              <a:t>ACCOUNT CREATION: </a:t>
            </a:r>
          </a:p>
          <a:p>
            <a:pPr lvl="1"/>
            <a:r>
              <a:rPr lang="en-US" dirty="0" smtClean="0"/>
              <a:t>Users </a:t>
            </a:r>
            <a:r>
              <a:rPr lang="en-US" dirty="0"/>
              <a:t>can create a new account by entering a unique User ID and Password</a:t>
            </a:r>
            <a:r>
              <a:rPr lang="en-US" dirty="0" smtClean="0"/>
              <a:t>.</a:t>
            </a:r>
          </a:p>
          <a:p>
            <a:r>
              <a:rPr lang="en-US" dirty="0" smtClean="0"/>
              <a:t>LOGIN:</a:t>
            </a:r>
          </a:p>
          <a:p>
            <a:pPr lvl="1"/>
            <a:r>
              <a:rPr lang="en-US" dirty="0" smtClean="0"/>
              <a:t>Users must enter the correct credentials. If the password is entered incorrectly three times, the account gets locked.</a:t>
            </a:r>
          </a:p>
          <a:p>
            <a:r>
              <a:rPr lang="en-US" dirty="0" smtClean="0"/>
              <a:t>CHANGE PASSWORD:</a:t>
            </a:r>
          </a:p>
          <a:p>
            <a:pPr lvl="1"/>
            <a:r>
              <a:rPr lang="en-US" dirty="0" smtClean="0"/>
              <a:t>After logging in, users are optionally allowed to update their password.</a:t>
            </a:r>
          </a:p>
          <a:p>
            <a:r>
              <a:rPr lang="en-US" dirty="0" smtClean="0"/>
              <a:t>DELETE ACCOUNT:</a:t>
            </a:r>
          </a:p>
          <a:p>
            <a:pPr lvl="1"/>
            <a:r>
              <a:rPr lang="en-US" dirty="0"/>
              <a:t>A user can delete their account by providing valid credentials</a:t>
            </a:r>
            <a:r>
              <a:rPr lang="en-US" dirty="0" smtClean="0"/>
              <a:t>.</a:t>
            </a:r>
          </a:p>
          <a:p>
            <a:r>
              <a:rPr lang="en-US" dirty="0"/>
              <a:t>ACCOUNT LOCK AND UNLOCK</a:t>
            </a:r>
            <a:r>
              <a:rPr lang="en-US" dirty="0" smtClean="0"/>
              <a:t>:</a:t>
            </a:r>
          </a:p>
          <a:p>
            <a:pPr lvl="1"/>
            <a:r>
              <a:rPr lang="en-US" dirty="0" smtClean="0"/>
              <a:t>The account is automatically locked after 3 failed login attempts. </a:t>
            </a:r>
            <a:r>
              <a:rPr lang="en-US" dirty="0"/>
              <a:t>T</a:t>
            </a:r>
            <a:r>
              <a:rPr lang="en-US" dirty="0" smtClean="0"/>
              <a:t>he admin(user running the system)can unlock it.</a:t>
            </a:r>
            <a:endParaRPr lang="en-US" dirty="0"/>
          </a:p>
          <a:p>
            <a:r>
              <a:rPr lang="en-US" dirty="0"/>
              <a:t>DISPLAY ACCOUNTS</a:t>
            </a:r>
            <a:r>
              <a:rPr lang="en-US" dirty="0" smtClean="0"/>
              <a:t>:</a:t>
            </a:r>
          </a:p>
          <a:p>
            <a:pPr lvl="1"/>
            <a:r>
              <a:rPr lang="en-US" dirty="0" smtClean="0"/>
              <a:t>The system can display all user accounts with their current status(Active/Locked).</a:t>
            </a:r>
          </a:p>
          <a:p>
            <a:pPr lvl="1"/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27357808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7467600" cy="609600"/>
          </a:xfrm>
        </p:spPr>
        <p:txBody>
          <a:bodyPr>
            <a:normAutofit fontScale="90000"/>
          </a:bodyPr>
          <a:lstStyle/>
          <a:p>
            <a:r>
              <a:rPr lang="en-US" sz="4000" b="1" dirty="0" smtClean="0">
                <a:latin typeface="Garamond" panose="02020404030301010803" pitchFamily="18" charset="0"/>
              </a:rPr>
              <a:t>TECHNICAL DETAILS</a:t>
            </a:r>
            <a:endParaRPr lang="en-US" sz="4000" b="1" dirty="0">
              <a:latin typeface="Garamond" panose="02020404030301010803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762000"/>
            <a:ext cx="7467600" cy="5711952"/>
          </a:xfrm>
        </p:spPr>
        <p:txBody>
          <a:bodyPr>
            <a:normAutofit lnSpcReduction="10000"/>
          </a:bodyPr>
          <a:lstStyle/>
          <a:p>
            <a:r>
              <a:rPr lang="en-US" dirty="0" smtClean="0">
                <a:latin typeface="Garamond" panose="02020404030301010803" pitchFamily="18" charset="0"/>
              </a:rPr>
              <a:t>PROGRAMMING LANGUAGE</a:t>
            </a:r>
            <a:r>
              <a:rPr lang="en-US" dirty="0" smtClean="0"/>
              <a:t>: C</a:t>
            </a:r>
          </a:p>
          <a:p>
            <a:r>
              <a:rPr lang="en-US" dirty="0" smtClean="0">
                <a:latin typeface="Garamond" panose="02020404030301010803" pitchFamily="18" charset="0"/>
              </a:rPr>
              <a:t>DATA STORAGE</a:t>
            </a:r>
            <a:r>
              <a:rPr lang="en-US" dirty="0" smtClean="0"/>
              <a:t>: </a:t>
            </a:r>
            <a:r>
              <a:rPr lang="en-US" dirty="0" smtClean="0">
                <a:latin typeface="Garamond" panose="02020404030301010803" pitchFamily="18" charset="0"/>
              </a:rPr>
              <a:t>Static array of Structures (Max 10 accounts).</a:t>
            </a:r>
          </a:p>
          <a:p>
            <a:r>
              <a:rPr lang="en-US" dirty="0" smtClean="0">
                <a:latin typeface="Garamond" panose="02020404030301010803" pitchFamily="18" charset="0"/>
              </a:rPr>
              <a:t>STURCTURE USED: </a:t>
            </a:r>
          </a:p>
          <a:p>
            <a:pPr lvl="2"/>
            <a:endParaRPr lang="en-US" dirty="0" smtClean="0">
              <a:latin typeface="Garamond" panose="02020404030301010803" pitchFamily="18" charset="0"/>
            </a:endParaRPr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r>
              <a:rPr lang="en-US" dirty="0" smtClean="0"/>
              <a:t>FUNCTIONS IMPLEMENTED:</a:t>
            </a:r>
          </a:p>
          <a:p>
            <a:pPr lvl="1"/>
            <a:r>
              <a:rPr lang="en-US" dirty="0" smtClean="0"/>
              <a:t>Create()—Adds a new user</a:t>
            </a:r>
          </a:p>
          <a:p>
            <a:pPr lvl="1"/>
            <a:r>
              <a:rPr lang="en-US" dirty="0" smtClean="0"/>
              <a:t>Login()—Authenticates user, tracks attempts</a:t>
            </a:r>
          </a:p>
          <a:p>
            <a:pPr lvl="1"/>
            <a:r>
              <a:rPr lang="en-US" dirty="0" err="1" smtClean="0"/>
              <a:t>ChangePass</a:t>
            </a:r>
            <a:r>
              <a:rPr lang="en-US" dirty="0" smtClean="0"/>
              <a:t>()—Updates Password</a:t>
            </a:r>
          </a:p>
          <a:p>
            <a:pPr lvl="1"/>
            <a:r>
              <a:rPr lang="en-US" dirty="0" err="1" smtClean="0"/>
              <a:t>Deletee</a:t>
            </a:r>
            <a:r>
              <a:rPr lang="en-US" dirty="0" smtClean="0"/>
              <a:t>()—Removes user after validation</a:t>
            </a:r>
          </a:p>
          <a:p>
            <a:pPr lvl="1"/>
            <a:r>
              <a:rPr lang="en-US" dirty="0" smtClean="0"/>
              <a:t>Display()—Lists accounts and their status</a:t>
            </a:r>
          </a:p>
          <a:p>
            <a:pPr lvl="1"/>
            <a:r>
              <a:rPr lang="en-US" dirty="0" err="1"/>
              <a:t>U</a:t>
            </a:r>
            <a:r>
              <a:rPr lang="en-US" dirty="0" err="1" smtClean="0"/>
              <a:t>nlockAcct</a:t>
            </a:r>
            <a:r>
              <a:rPr lang="en-US" dirty="0" smtClean="0"/>
              <a:t>()—Unlocks locked accounts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0701" y="2362201"/>
            <a:ext cx="3276600" cy="1295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497779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563562"/>
          </a:xfrm>
        </p:spPr>
        <p:txBody>
          <a:bodyPr>
            <a:normAutofit fontScale="90000"/>
          </a:bodyPr>
          <a:lstStyle/>
          <a:p>
            <a:r>
              <a:rPr lang="en-US" sz="4000" b="1" dirty="0" smtClean="0">
                <a:latin typeface="Garamond" panose="02020404030301010803" pitchFamily="18" charset="0"/>
              </a:rPr>
              <a:t>Source code</a:t>
            </a:r>
            <a:endParaRPr lang="en-US" sz="4000" b="1" dirty="0">
              <a:latin typeface="Garamond" panose="02020404030301010803" pitchFamily="18" charset="0"/>
            </a:endParaRPr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838200"/>
            <a:ext cx="2362200" cy="297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0" y="914400"/>
            <a:ext cx="2590800" cy="2895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9800" y="914400"/>
            <a:ext cx="2147887" cy="28955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0674" y="4038600"/>
            <a:ext cx="2828925" cy="24453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4" name="Picture 6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6801" y="4038600"/>
            <a:ext cx="2819400" cy="24453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184645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447675"/>
            <a:ext cx="3782483" cy="2895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9600" y="457200"/>
            <a:ext cx="3686174" cy="2886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3505200"/>
            <a:ext cx="3657600" cy="32004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7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71974" y="3525981"/>
            <a:ext cx="3781425" cy="32004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60070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563562"/>
          </a:xfrm>
        </p:spPr>
        <p:txBody>
          <a:bodyPr>
            <a:normAutofit fontScale="90000"/>
          </a:bodyPr>
          <a:lstStyle/>
          <a:p>
            <a:r>
              <a:rPr lang="en-US" sz="4000" b="1" dirty="0" smtClean="0">
                <a:latin typeface="Garamond" panose="02020404030301010803" pitchFamily="18" charset="0"/>
              </a:rPr>
              <a:t>Sample output</a:t>
            </a:r>
            <a:endParaRPr lang="en-US" sz="4000" b="1" dirty="0">
              <a:latin typeface="Garamond" panose="02020404030301010803" pitchFamily="18" charset="0"/>
            </a:endParaRPr>
          </a:p>
        </p:txBody>
      </p:sp>
      <p:pic>
        <p:nvPicPr>
          <p:cNvPr id="4098" name="Picture 2" descr="C:\Users\DELL\Downloads\WhatsApp Image 2025-04-30 at 11.35.57 PM.jpeg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1295400"/>
            <a:ext cx="2590800" cy="472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C:\Users\DELL\Downloads\WhatsApp Image 2025-04-30 at 11.35.57 PM (1).jpe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0" y="1295400"/>
            <a:ext cx="2590800" cy="472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 descr="C:\Users\DELL\Downloads\WhatsApp Image 2025-04-30 at 11.35.58 PM.jpe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1200" y="1295400"/>
            <a:ext cx="2679700" cy="472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75916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 smtClean="0">
                <a:latin typeface="Garamond" panose="02020404030301010803" pitchFamily="18" charset="0"/>
              </a:rPr>
              <a:t>LIMITATIONS</a:t>
            </a:r>
            <a:endParaRPr lang="en-US" sz="4000" b="1" dirty="0">
              <a:latin typeface="Garamond" panose="02020404030301010803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sz="3000" dirty="0" smtClean="0">
                <a:latin typeface="Garamond" panose="02020404030301010803" pitchFamily="18" charset="0"/>
              </a:rPr>
              <a:t>No File storage(all data lot on program exit).</a:t>
            </a:r>
          </a:p>
          <a:p>
            <a:r>
              <a:rPr lang="en-US" sz="3000" dirty="0" smtClean="0">
                <a:latin typeface="Garamond" panose="02020404030301010803" pitchFamily="18" charset="0"/>
              </a:rPr>
              <a:t>Passwords visible during entry(not masked).</a:t>
            </a:r>
          </a:p>
          <a:p>
            <a:r>
              <a:rPr lang="en-US" sz="3000" dirty="0" smtClean="0">
                <a:latin typeface="Garamond" panose="02020404030301010803" pitchFamily="18" charset="0"/>
              </a:rPr>
              <a:t>No Password recovery feature.</a:t>
            </a:r>
          </a:p>
          <a:p>
            <a:endParaRPr lang="en-US" dirty="0" smtClean="0"/>
          </a:p>
          <a:p>
            <a:pPr marL="0" indent="0">
              <a:buNone/>
            </a:pPr>
            <a:r>
              <a:rPr lang="en-US" sz="4000" b="1" dirty="0" smtClean="0">
                <a:latin typeface="Garamond" panose="02020404030301010803" pitchFamily="18" charset="0"/>
              </a:rPr>
              <a:t>FUTURE ENHANCEMENTS</a:t>
            </a:r>
            <a:endParaRPr lang="en-US" sz="4000" dirty="0"/>
          </a:p>
          <a:p>
            <a:r>
              <a:rPr lang="en-US" sz="3300" dirty="0">
                <a:latin typeface="Garamond" panose="02020404030301010803" pitchFamily="18" charset="0"/>
              </a:rPr>
              <a:t>Use of </a:t>
            </a:r>
            <a:r>
              <a:rPr lang="en-US" sz="3300" dirty="0" err="1">
                <a:latin typeface="Garamond" panose="02020404030301010803" pitchFamily="18" charset="0"/>
              </a:rPr>
              <a:t>time.h</a:t>
            </a:r>
            <a:r>
              <a:rPr lang="en-US" sz="3300" dirty="0">
                <a:latin typeface="Garamond" panose="02020404030301010803" pitchFamily="18" charset="0"/>
              </a:rPr>
              <a:t> to log account creation time.</a:t>
            </a:r>
          </a:p>
          <a:p>
            <a:r>
              <a:rPr lang="en-US" sz="3300" dirty="0">
                <a:latin typeface="Garamond" panose="02020404030301010803" pitchFamily="18" charset="0"/>
              </a:rPr>
              <a:t>Password input using asterisks without </a:t>
            </a:r>
            <a:r>
              <a:rPr lang="en-US" sz="3300" dirty="0" err="1">
                <a:latin typeface="Garamond" panose="02020404030301010803" pitchFamily="18" charset="0"/>
              </a:rPr>
              <a:t>conio.h</a:t>
            </a:r>
            <a:r>
              <a:rPr lang="en-US" sz="3300" dirty="0">
                <a:latin typeface="Garamond" panose="02020404030301010803" pitchFamily="18" charset="0"/>
              </a:rPr>
              <a:t>.</a:t>
            </a:r>
          </a:p>
          <a:p>
            <a:r>
              <a:rPr lang="en-US" sz="3300" dirty="0">
                <a:latin typeface="Garamond" panose="02020404030301010803" pitchFamily="18" charset="0"/>
              </a:rPr>
              <a:t>Storing data in a file for persistence.</a:t>
            </a:r>
          </a:p>
          <a:p>
            <a:r>
              <a:rPr lang="en-US" sz="3300" dirty="0">
                <a:latin typeface="Garamond" panose="02020404030301010803" pitchFamily="18" charset="0"/>
              </a:rPr>
              <a:t>Admin login for more security.</a:t>
            </a:r>
          </a:p>
          <a:p>
            <a:pPr marL="0" indent="0">
              <a:buNone/>
            </a:pPr>
            <a:endParaRPr lang="en-US" sz="4000" b="1" dirty="0" smtClean="0">
              <a:latin typeface="Garamond" panose="02020404030301010803" pitchFamily="18" charset="0"/>
            </a:endParaRPr>
          </a:p>
          <a:p>
            <a:pPr marL="0" indent="0">
              <a:buNone/>
            </a:pP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28559688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b="1" dirty="0" smtClean="0">
                <a:latin typeface="Garamond" panose="02020404030301010803" pitchFamily="18" charset="0"/>
              </a:rPr>
              <a:t>conclusion</a:t>
            </a:r>
            <a:endParaRPr lang="en-US" sz="4000" b="1" dirty="0">
              <a:latin typeface="Garamond" panose="02020404030301010803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Successfully implemented a basic account management system using core C concepts.</a:t>
            </a:r>
          </a:p>
          <a:p>
            <a:r>
              <a:rPr lang="en-US" dirty="0" smtClean="0"/>
              <a:t>Demonstrated secure login by incorporating password verification and lockout after failed attempts.</a:t>
            </a:r>
          </a:p>
          <a:p>
            <a:r>
              <a:rPr lang="en-US" dirty="0" smtClean="0"/>
              <a:t>Improved user safety through manual unlocking and password change options.</a:t>
            </a:r>
          </a:p>
          <a:p>
            <a:r>
              <a:rPr lang="en-US" dirty="0" smtClean="0"/>
              <a:t>Provided </a:t>
            </a:r>
            <a:r>
              <a:rPr lang="en-US" dirty="0" err="1" smtClean="0"/>
              <a:t>pratical</a:t>
            </a:r>
            <a:r>
              <a:rPr lang="en-US" dirty="0" smtClean="0"/>
              <a:t> experience with arrays, strings, structures, and conditional in real-world scenarios.</a:t>
            </a:r>
          </a:p>
          <a:p>
            <a:r>
              <a:rPr lang="en-US" dirty="0" smtClean="0"/>
              <a:t>User-Friendly interface ensures ease of use and understanding for new programmers.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49206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122" name="Picture 2" descr="C:\Users\DELL\Downloads\df6dd106-cd75-4010-b6a5-edf8d0c1c388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69148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el">
  <a:themeElements>
    <a:clrScheme name="Thatch">
      <a:dk1>
        <a:sysClr val="windowText" lastClr="000000"/>
      </a:dk1>
      <a:lt1>
        <a:sysClr val="window" lastClr="FFFFFF"/>
      </a:lt1>
      <a:dk2>
        <a:srgbClr val="1D3641"/>
      </a:dk2>
      <a:lt2>
        <a:srgbClr val="DFE6D0"/>
      </a:lt2>
      <a:accent1>
        <a:srgbClr val="759AA5"/>
      </a:accent1>
      <a:accent2>
        <a:srgbClr val="CFC60D"/>
      </a:accent2>
      <a:accent3>
        <a:srgbClr val="99987F"/>
      </a:accent3>
      <a:accent4>
        <a:srgbClr val="90AC97"/>
      </a:accent4>
      <a:accent5>
        <a:srgbClr val="FFAD1C"/>
      </a:accent5>
      <a:accent6>
        <a:srgbClr val="B9AB6F"/>
      </a:accent6>
      <a:hlink>
        <a:srgbClr val="66AACD"/>
      </a:hlink>
      <a:folHlink>
        <a:srgbClr val="809DB3"/>
      </a:folHlink>
    </a:clrScheme>
    <a:fontScheme name="Oriel">
      <a:majorFont>
        <a:latin typeface="Century Schoolbook"/>
        <a:ea typeface=""/>
        <a:cs typeface=""/>
        <a:font script="Jpan" typeface="ＭＳ Ｐ明朝"/>
        <a:font script="Hang" typeface="휴먼매직체"/>
        <a:font script="Hans" typeface="华文楷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Schoolbook"/>
        <a:ea typeface=""/>
        <a:cs typeface=""/>
        <a:font script="Jpan" typeface="ＭＳ Ｐ明朝"/>
        <a:font script="Hang" typeface="휴먼매직체"/>
        <a:font script="Hans" typeface="宋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iel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60000"/>
              </a:schemeClr>
            </a:gs>
            <a:gs pos="30000">
              <a:schemeClr val="phClr">
                <a:tint val="38000"/>
                <a:satMod val="260000"/>
              </a:schemeClr>
            </a:gs>
            <a:gs pos="75000">
              <a:schemeClr val="phClr">
                <a:tint val="55000"/>
                <a:satMod val="255000"/>
              </a:schemeClr>
            </a:gs>
            <a:gs pos="100000">
              <a:schemeClr val="phClr">
                <a:tint val="70000"/>
                <a:satMod val="255000"/>
              </a:schemeClr>
            </a:gs>
          </a:gsLst>
          <a:path path="circle">
            <a:fillToRect l="5000" t="100000" r="120000" b="10000"/>
          </a:path>
        </a:gradFill>
        <a:gradFill rotWithShape="1">
          <a:gsLst>
            <a:gs pos="0">
              <a:schemeClr val="phClr">
                <a:shade val="63000"/>
                <a:satMod val="165000"/>
              </a:schemeClr>
            </a:gs>
            <a:gs pos="30000">
              <a:schemeClr val="phClr">
                <a:shade val="58000"/>
                <a:satMod val="165000"/>
              </a:schemeClr>
            </a:gs>
            <a:gs pos="75000">
              <a:schemeClr val="phClr">
                <a:shade val="30000"/>
                <a:satMod val="175000"/>
              </a:schemeClr>
            </a:gs>
            <a:gs pos="100000">
              <a:schemeClr val="phClr">
                <a:shade val="15000"/>
                <a:satMod val="175000"/>
              </a:schemeClr>
            </a:gs>
          </a:gsLst>
          <a:path path="circle">
            <a:fillToRect l="5000" t="100000" r="120000" b="10000"/>
          </a:path>
        </a:gradFill>
      </a:fillStyleLst>
      <a:lnStyleLst>
        <a:ln w="12700" cap="flat" cmpd="sng" algn="ctr">
          <a:solidFill>
            <a:schemeClr val="phClr">
              <a:shade val="70000"/>
              <a:satMod val="15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492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0"/>
            </a:lightRig>
          </a:scene3d>
          <a:sp3d>
            <a:bevelT w="47625" h="69850"/>
            <a:contourClr>
              <a:schemeClr val="lt1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8000"/>
                <a:satMod val="125000"/>
              </a:schemeClr>
            </a:gs>
            <a:gs pos="40000">
              <a:schemeClr val="phClr">
                <a:tint val="90000"/>
                <a:shade val="90000"/>
                <a:satMod val="120000"/>
              </a:schemeClr>
            </a:gs>
            <a:gs pos="100000">
              <a:schemeClr val="phClr">
                <a:tint val="5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80000"/>
              </a:schemeClr>
              <a:schemeClr val="phClr">
                <a:tint val="91000"/>
              </a:schemeClr>
            </a:duotone>
          </a:blip>
          <a:tile tx="0" ty="0" sx="40000" sy="50000" flip="y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Oriel</Template>
  <TotalTime>212</TotalTime>
  <Words>520</Words>
  <Application>Microsoft Office PowerPoint</Application>
  <PresentationFormat>On-screen Show (4:3)</PresentationFormat>
  <Paragraphs>73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Oriel</vt:lpstr>
      <vt:lpstr>ACCOUNT MANAGEMENT SYSTEM</vt:lpstr>
      <vt:lpstr>INTRODUCTION</vt:lpstr>
      <vt:lpstr>PowerPoint Presentation</vt:lpstr>
      <vt:lpstr>OBJECTIVES</vt:lpstr>
      <vt:lpstr>                      Features </vt:lpstr>
      <vt:lpstr>TECHNICAL DETAILS</vt:lpstr>
      <vt:lpstr>Source code</vt:lpstr>
      <vt:lpstr>PowerPoint Presentation</vt:lpstr>
      <vt:lpstr>Sample output</vt:lpstr>
      <vt:lpstr>LIMITATIONS</vt:lpstr>
      <vt:lpstr>conclusion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DELL</dc:creator>
  <cp:lastModifiedBy>DELL</cp:lastModifiedBy>
  <cp:revision>14</cp:revision>
  <dcterms:created xsi:type="dcterms:W3CDTF">2025-04-30T15:04:11Z</dcterms:created>
  <dcterms:modified xsi:type="dcterms:W3CDTF">2025-04-30T18:36:20Z</dcterms:modified>
</cp:coreProperties>
</file>